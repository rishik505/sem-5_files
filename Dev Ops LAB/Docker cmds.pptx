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8" r:id="rId1"/>
  </p:sldMasterIdLst>
  <p:sldIdLst>
    <p:sldId id="256" r:id="rId2"/>
    <p:sldId id="272" r:id="rId3"/>
    <p:sldId id="273" r:id="rId4"/>
    <p:sldId id="275" r:id="rId5"/>
    <p:sldId id="274" r:id="rId6"/>
    <p:sldId id="280" r:id="rId7"/>
    <p:sldId id="257" r:id="rId8"/>
    <p:sldId id="258" r:id="rId9"/>
    <p:sldId id="259" r:id="rId10"/>
    <p:sldId id="260" r:id="rId11"/>
    <p:sldId id="261" r:id="rId12"/>
    <p:sldId id="263" r:id="rId13"/>
    <p:sldId id="262" r:id="rId14"/>
    <p:sldId id="264" r:id="rId15"/>
    <p:sldId id="265" r:id="rId16"/>
    <p:sldId id="276" r:id="rId17"/>
    <p:sldId id="266" r:id="rId18"/>
    <p:sldId id="267" r:id="rId19"/>
    <p:sldId id="269" r:id="rId20"/>
    <p:sldId id="277" r:id="rId21"/>
    <p:sldId id="268" r:id="rId22"/>
    <p:sldId id="278" r:id="rId23"/>
    <p:sldId id="279" r:id="rId24"/>
    <p:sldId id="281" r:id="rId25"/>
    <p:sldId id="282" r:id="rId26"/>
    <p:sldId id="283" r:id="rId27"/>
    <p:sldId id="284" r:id="rId28"/>
    <p:sldId id="285" r:id="rId29"/>
    <p:sldId id="28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0" d="100"/>
          <a:sy n="90" d="100"/>
        </p:scale>
        <p:origin x="57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D212F1D-C6CF-4B74-971C-F184DAA89FE9}" type="datetimeFigureOut">
              <a:rPr lang="en-US" smtClean="0"/>
              <a:t>6/5/2023</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4125023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D212F1D-C6CF-4B74-971C-F184DAA89FE9}"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4021986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D212F1D-C6CF-4B74-971C-F184DAA89FE9}"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1242844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D212F1D-C6CF-4B74-971C-F184DAA89FE9}" type="datetimeFigureOut">
              <a:rPr lang="en-US" smtClean="0"/>
              <a:t>6/5/2023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1460186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D212F1D-C6CF-4B74-971C-F184DAA89FE9}" type="datetimeFigureOut">
              <a:rPr lang="en-US" smtClean="0"/>
              <a:t>6/5/2023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4240539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D212F1D-C6CF-4B74-971C-F184DAA89FE9}" type="datetimeFigureOut">
              <a:rPr lang="en-US" smtClean="0"/>
              <a:t>6/5/2023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351413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212F1D-C6CF-4B74-971C-F184DAA89FE9}" type="datetimeFigureOut">
              <a:rPr lang="en-US" smtClean="0"/>
              <a:t>6/5/2023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1352428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D212F1D-C6CF-4B74-971C-F184DAA89FE9}" type="datetimeFigureOut">
              <a:rPr lang="en-US" smtClean="0"/>
              <a:t>6/5/2023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2094026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D212F1D-C6CF-4B74-971C-F184DAA89FE9}" type="datetimeFigureOut">
              <a:rPr lang="en-US" smtClean="0"/>
              <a:t>6/5/2023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1420837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D212F1D-C6CF-4B74-971C-F184DAA89FE9}" type="datetimeFigureOut">
              <a:rPr lang="en-US" smtClean="0"/>
              <a:t>6/5/2023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1864863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D212F1D-C6CF-4B74-971C-F184DAA89FE9}"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20692556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D212F1D-C6CF-4B74-971C-F184DAA89FE9}"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1475155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D212F1D-C6CF-4B74-971C-F184DAA89FE9}"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190906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D212F1D-C6CF-4B74-971C-F184DAA89FE9}"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1893964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D212F1D-C6CF-4B74-971C-F184DAA89FE9}"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285283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D212F1D-C6CF-4B74-971C-F184DAA89FE9}"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15137101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D212F1D-C6CF-4B74-971C-F184DAA89FE9}"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9E63AE-F096-439D-AD99-D91B9F3A0D18}" type="slidenum">
              <a:rPr lang="en-US" smtClean="0"/>
              <a:t>‹#›</a:t>
            </a:fld>
            <a:endParaRPr lang="en-US"/>
          </a:p>
        </p:txBody>
      </p:sp>
    </p:spTree>
    <p:extLst>
      <p:ext uri="{BB962C8B-B14F-4D97-AF65-F5344CB8AC3E}">
        <p14:creationId xmlns:p14="http://schemas.microsoft.com/office/powerpoint/2010/main" val="600697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D212F1D-C6CF-4B74-971C-F184DAA89FE9}" type="datetimeFigureOut">
              <a:rPr lang="en-US" smtClean="0"/>
              <a:t>6/5/2023</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C9E63AE-F096-439D-AD99-D91B9F3A0D18}" type="slidenum">
              <a:rPr lang="en-US" smtClean="0"/>
              <a:t>‹#›</a:t>
            </a:fld>
            <a:endParaRPr lang="en-US"/>
          </a:p>
        </p:txBody>
      </p:sp>
    </p:spTree>
    <p:extLst>
      <p:ext uri="{BB962C8B-B14F-4D97-AF65-F5344CB8AC3E}">
        <p14:creationId xmlns:p14="http://schemas.microsoft.com/office/powerpoint/2010/main" val="268207576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howtogeek.com/devops/sick-of-managing-servers-heres-how-to-get-started-with-containers-on-aw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howtogeek.com/devops/how-to-install-docker-and-docker-compose-on-linux/"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Docker </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65423061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484310" y="1701209"/>
            <a:ext cx="10018713" cy="4089991"/>
          </a:xfrm>
        </p:spPr>
        <p:txBody>
          <a:bodyPr/>
          <a:lstStyle/>
          <a:p>
            <a:r>
              <a:rPr lang="en-US" dirty="0"/>
              <a:t>Docker is a tool for running your applications inside </a:t>
            </a:r>
            <a:r>
              <a:rPr lang="en-US" dirty="0" smtClean="0"/>
              <a:t>containers.</a:t>
            </a:r>
          </a:p>
          <a:p>
            <a:r>
              <a:rPr lang="en-US" dirty="0" smtClean="0"/>
              <a:t>Containers </a:t>
            </a:r>
            <a:r>
              <a:rPr lang="en-US" dirty="0"/>
              <a:t>package all the dependencies and code your app needs to run into a single file, which will run the same way on any machine</a:t>
            </a:r>
            <a:r>
              <a:rPr lang="en-US" dirty="0" smtClean="0"/>
              <a:t>.</a:t>
            </a:r>
          </a:p>
          <a:p>
            <a:endParaRPr lang="en-US" dirty="0"/>
          </a:p>
        </p:txBody>
      </p:sp>
    </p:spTree>
    <p:extLst>
      <p:ext uri="{BB962C8B-B14F-4D97-AF65-F5344CB8AC3E}">
        <p14:creationId xmlns:p14="http://schemas.microsoft.com/office/powerpoint/2010/main" val="3621864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484310" y="2062717"/>
            <a:ext cx="10018713" cy="3728484"/>
          </a:xfrm>
        </p:spPr>
        <p:txBody>
          <a:bodyPr/>
          <a:lstStyle/>
          <a:p>
            <a:r>
              <a:rPr lang="en-US" b="1" dirty="0"/>
              <a:t>What Is Docker?</a:t>
            </a:r>
          </a:p>
          <a:p>
            <a:r>
              <a:rPr lang="en-US" dirty="0"/>
              <a:t>Docker is similar in concept to Virtual Machines, except it’s much more lightweight</a:t>
            </a:r>
            <a:r>
              <a:rPr lang="en-US" dirty="0" smtClean="0"/>
              <a:t>.</a:t>
            </a:r>
          </a:p>
          <a:p>
            <a:r>
              <a:rPr lang="en-US" dirty="0" smtClean="0"/>
              <a:t> </a:t>
            </a:r>
            <a:r>
              <a:rPr lang="en-US" dirty="0"/>
              <a:t>Instead of running an entire separate operating system (which is a massive overhead), Docker runs </a:t>
            </a:r>
            <a:r>
              <a:rPr lang="en-US" u="sng" dirty="0">
                <a:hlinkClick r:id="rId2"/>
              </a:rPr>
              <a:t>containers</a:t>
            </a:r>
            <a:r>
              <a:rPr lang="en-US" dirty="0"/>
              <a:t>, which use the same host operating system, and only virtualize at a software level</a:t>
            </a:r>
            <a:r>
              <a:rPr lang="en-US" dirty="0" smtClean="0"/>
              <a:t>.</a:t>
            </a:r>
          </a:p>
          <a:p>
            <a:endParaRPr lang="en-US" dirty="0"/>
          </a:p>
          <a:p>
            <a:endParaRPr lang="en-US" dirty="0"/>
          </a:p>
        </p:txBody>
      </p:sp>
    </p:spTree>
    <p:extLst>
      <p:ext uri="{BB962C8B-B14F-4D97-AF65-F5344CB8AC3E}">
        <p14:creationId xmlns:p14="http://schemas.microsoft.com/office/powerpoint/2010/main" val="21771832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can I use Docker for?</a:t>
            </a:r>
            <a:br>
              <a:rPr lang="en-US" dirty="0" smtClean="0"/>
            </a:br>
            <a:endParaRPr lang="en-US" dirty="0"/>
          </a:p>
        </p:txBody>
      </p:sp>
      <p:sp>
        <p:nvSpPr>
          <p:cNvPr id="3" name="Content Placeholder 2"/>
          <p:cNvSpPr>
            <a:spLocks noGrp="1"/>
          </p:cNvSpPr>
          <p:nvPr>
            <p:ph idx="1"/>
          </p:nvPr>
        </p:nvSpPr>
        <p:spPr>
          <a:xfrm>
            <a:off x="1484310" y="2052085"/>
            <a:ext cx="10018713" cy="3739116"/>
          </a:xfrm>
        </p:spPr>
        <p:txBody>
          <a:bodyPr>
            <a:normAutofit fontScale="70000" lnSpcReduction="20000"/>
          </a:bodyPr>
          <a:lstStyle/>
          <a:p>
            <a:r>
              <a:rPr lang="en-US" b="1" dirty="0" smtClean="0"/>
              <a:t>Fast</a:t>
            </a:r>
            <a:r>
              <a:rPr lang="en-US" b="1" dirty="0"/>
              <a:t>, consistent delivery of your applications</a:t>
            </a:r>
            <a:endParaRPr lang="en-US" dirty="0"/>
          </a:p>
          <a:p>
            <a:r>
              <a:rPr lang="en-US" dirty="0"/>
              <a:t>Docker streamlines the development lifecycle by allowing developers to work in standardized environments using local containers which provide your applications and services. Containers are great for continuous integration and continuous delivery (CI/CD) workflows.</a:t>
            </a:r>
          </a:p>
          <a:p>
            <a:r>
              <a:rPr lang="en-US" b="1" dirty="0"/>
              <a:t>Consider the following example scenario:</a:t>
            </a:r>
          </a:p>
          <a:p>
            <a:r>
              <a:rPr lang="en-US" dirty="0"/>
              <a:t>Your developers write code locally and share their work with their colleagues using Docker containers.</a:t>
            </a:r>
          </a:p>
          <a:p>
            <a:r>
              <a:rPr lang="en-US" dirty="0"/>
              <a:t>They use Docker to push their applications into a test environment and execute automated and manual tests.</a:t>
            </a:r>
          </a:p>
          <a:p>
            <a:r>
              <a:rPr lang="en-US" dirty="0"/>
              <a:t>When developers find bugs, they can fix them in the development environment and redeploy them to the test environment for testing and validation.</a:t>
            </a:r>
          </a:p>
          <a:p>
            <a:r>
              <a:rPr lang="en-US" dirty="0"/>
              <a:t>When testing is complete, getting the fix to the customer is as simple as pushing the updated image to the production environment.</a:t>
            </a:r>
          </a:p>
          <a:p>
            <a:endParaRPr lang="en-US" dirty="0"/>
          </a:p>
        </p:txBody>
      </p:sp>
    </p:spTree>
    <p:extLst>
      <p:ext uri="{BB962C8B-B14F-4D97-AF65-F5344CB8AC3E}">
        <p14:creationId xmlns:p14="http://schemas.microsoft.com/office/powerpoint/2010/main" val="26347061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646814" y="365125"/>
            <a:ext cx="9528544" cy="3175517"/>
          </a:xfrm>
          <a:prstGeom prst="rect">
            <a:avLst/>
          </a:prstGeom>
        </p:spPr>
      </p:pic>
      <p:sp>
        <p:nvSpPr>
          <p:cNvPr id="5" name="Rectangle 4"/>
          <p:cNvSpPr/>
          <p:nvPr/>
        </p:nvSpPr>
        <p:spPr>
          <a:xfrm>
            <a:off x="914400" y="4189228"/>
            <a:ext cx="10439399" cy="2031325"/>
          </a:xfrm>
          <a:prstGeom prst="rect">
            <a:avLst/>
          </a:prstGeom>
        </p:spPr>
        <p:txBody>
          <a:bodyPr wrap="square">
            <a:spAutoFit/>
          </a:bodyPr>
          <a:lstStyle/>
          <a:p>
            <a:pPr marL="285750" indent="-285750">
              <a:buFont typeface="Arial" panose="020B0604020202020204" pitchFamily="34" charset="0"/>
              <a:buChar char="•"/>
            </a:pPr>
            <a:r>
              <a:rPr lang="en-US" b="0" i="0" u="sng" dirty="0" smtClean="0">
                <a:solidFill>
                  <a:srgbClr val="1D55A9"/>
                </a:solidFill>
                <a:effectLst/>
                <a:latin typeface="Roboto"/>
                <a:hlinkClick r:id="rId3"/>
              </a:rPr>
              <a:t>Docker Engine runs on Linux</a:t>
            </a:r>
            <a:r>
              <a:rPr lang="en-US" b="0" i="0" dirty="0" smtClean="0">
                <a:solidFill>
                  <a:srgbClr val="404040"/>
                </a:solidFill>
                <a:effectLst/>
                <a:latin typeface="Roboto"/>
              </a:rPr>
              <a:t>, Windows, and </a:t>
            </a:r>
            <a:r>
              <a:rPr lang="en-US" b="0" i="0" dirty="0" err="1" smtClean="0">
                <a:solidFill>
                  <a:srgbClr val="404040"/>
                </a:solidFill>
                <a:effectLst/>
                <a:latin typeface="Roboto"/>
              </a:rPr>
              <a:t>macOS</a:t>
            </a:r>
            <a:r>
              <a:rPr lang="en-US" b="0" i="0" dirty="0" smtClean="0">
                <a:solidFill>
                  <a:srgbClr val="404040"/>
                </a:solidFill>
                <a:effectLst/>
                <a:latin typeface="Roboto"/>
              </a:rPr>
              <a:t>, and supports Linux and Windows for Docker containers. </a:t>
            </a:r>
          </a:p>
          <a:p>
            <a:pPr marL="285750" indent="-285750">
              <a:buFont typeface="Arial" panose="020B0604020202020204" pitchFamily="34" charset="0"/>
              <a:buChar char="•"/>
            </a:pPr>
            <a:r>
              <a:rPr lang="en-US" b="0" i="0" dirty="0" smtClean="0">
                <a:solidFill>
                  <a:srgbClr val="404040"/>
                </a:solidFill>
                <a:effectLst/>
                <a:latin typeface="Roboto"/>
              </a:rPr>
              <a:t>The exact flavor of Linux doesn’t actually matter; most versions of Linux will run the same kernel, and only differ in the user software. </a:t>
            </a:r>
          </a:p>
          <a:p>
            <a:pPr marL="285750" indent="-285750">
              <a:buFont typeface="Arial" panose="020B0604020202020204" pitchFamily="34" charset="0"/>
              <a:buChar char="•"/>
            </a:pPr>
            <a:r>
              <a:rPr lang="en-US" b="0" i="0" dirty="0" smtClean="0">
                <a:solidFill>
                  <a:srgbClr val="404040"/>
                </a:solidFill>
                <a:effectLst/>
                <a:latin typeface="Roboto"/>
              </a:rPr>
              <a:t>Docker can install this user software to the container, allowing you to run a CentOS container on Ubuntu. </a:t>
            </a:r>
          </a:p>
          <a:p>
            <a:pPr marL="285750" indent="-285750">
              <a:buFont typeface="Arial" panose="020B0604020202020204" pitchFamily="34" charset="0"/>
              <a:buChar char="•"/>
            </a:pPr>
            <a:r>
              <a:rPr lang="en-US" b="0" i="0" dirty="0" smtClean="0">
                <a:solidFill>
                  <a:srgbClr val="404040"/>
                </a:solidFill>
                <a:effectLst/>
                <a:latin typeface="Roboto"/>
              </a:rPr>
              <a:t>You couldn’t though, for example, run FreeBSD on Ubuntu, since the kernels are different.</a:t>
            </a:r>
            <a:endParaRPr lang="en-US" dirty="0"/>
          </a:p>
        </p:txBody>
      </p:sp>
    </p:spTree>
    <p:extLst>
      <p:ext uri="{BB962C8B-B14F-4D97-AF65-F5344CB8AC3E}">
        <p14:creationId xmlns:p14="http://schemas.microsoft.com/office/powerpoint/2010/main" val="28319800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Docker installation</a:t>
            </a:r>
            <a:endParaRPr lang="en-US" dirty="0"/>
          </a:p>
        </p:txBody>
      </p:sp>
      <p:pic>
        <p:nvPicPr>
          <p:cNvPr id="4" name="Content Placeholder 3"/>
          <p:cNvPicPr>
            <a:picLocks noGrp="1" noChangeAspect="1"/>
          </p:cNvPicPr>
          <p:nvPr>
            <p:ph idx="1"/>
          </p:nvPr>
        </p:nvPicPr>
        <p:blipFill>
          <a:blip r:embed="rId2"/>
          <a:stretch>
            <a:fillRect/>
          </a:stretch>
        </p:blipFill>
        <p:spPr>
          <a:xfrm>
            <a:off x="2082219" y="2271688"/>
            <a:ext cx="5420481" cy="333422"/>
          </a:xfrm>
          <a:prstGeom prst="rect">
            <a:avLst/>
          </a:prstGeom>
        </p:spPr>
      </p:pic>
    </p:spTree>
    <p:extLst>
      <p:ext uri="{BB962C8B-B14F-4D97-AF65-F5344CB8AC3E}">
        <p14:creationId xmlns:p14="http://schemas.microsoft.com/office/powerpoint/2010/main" val="1650696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628298" y="1286540"/>
            <a:ext cx="10142483" cy="4848446"/>
          </a:xfrm>
          <a:prstGeom prst="rect">
            <a:avLst/>
          </a:prstGeom>
        </p:spPr>
      </p:pic>
    </p:spTree>
    <p:extLst>
      <p:ext uri="{BB962C8B-B14F-4D97-AF65-F5344CB8AC3E}">
        <p14:creationId xmlns:p14="http://schemas.microsoft.com/office/powerpoint/2010/main" val="2262312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46897" y="1228625"/>
            <a:ext cx="10730221" cy="2779849"/>
          </a:xfrm>
          <a:prstGeom prst="rect">
            <a:avLst/>
          </a:prstGeom>
        </p:spPr>
      </p:pic>
      <p:pic>
        <p:nvPicPr>
          <p:cNvPr id="5" name="Picture 4"/>
          <p:cNvPicPr>
            <a:picLocks noChangeAspect="1"/>
          </p:cNvPicPr>
          <p:nvPr/>
        </p:nvPicPr>
        <p:blipFill>
          <a:blip r:embed="rId3"/>
          <a:stretch>
            <a:fillRect/>
          </a:stretch>
        </p:blipFill>
        <p:spPr>
          <a:xfrm>
            <a:off x="2066228" y="4505960"/>
            <a:ext cx="5744377" cy="419158"/>
          </a:xfrm>
          <a:prstGeom prst="rect">
            <a:avLst/>
          </a:prstGeom>
        </p:spPr>
      </p:pic>
    </p:spTree>
    <p:extLst>
      <p:ext uri="{BB962C8B-B14F-4D97-AF65-F5344CB8AC3E}">
        <p14:creationId xmlns:p14="http://schemas.microsoft.com/office/powerpoint/2010/main" val="34794699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1690688"/>
            <a:ext cx="11848560" cy="4678214"/>
          </a:xfrm>
          <a:prstGeom prst="rect">
            <a:avLst/>
          </a:prstGeom>
        </p:spPr>
      </p:pic>
    </p:spTree>
    <p:extLst>
      <p:ext uri="{BB962C8B-B14F-4D97-AF65-F5344CB8AC3E}">
        <p14:creationId xmlns:p14="http://schemas.microsoft.com/office/powerpoint/2010/main" val="673571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64616" y="1520456"/>
            <a:ext cx="10708184" cy="4266199"/>
          </a:xfrm>
          <a:prstGeom prst="rect">
            <a:avLst/>
          </a:prstGeom>
        </p:spPr>
      </p:pic>
    </p:spTree>
    <p:extLst>
      <p:ext uri="{BB962C8B-B14F-4D97-AF65-F5344CB8AC3E}">
        <p14:creationId xmlns:p14="http://schemas.microsoft.com/office/powerpoint/2010/main" val="2713008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46034" y="1690688"/>
            <a:ext cx="10686253" cy="3439005"/>
          </a:xfrm>
          <a:prstGeom prst="rect">
            <a:avLst/>
          </a:prstGeom>
        </p:spPr>
      </p:pic>
      <p:pic>
        <p:nvPicPr>
          <p:cNvPr id="5" name="Content Placeholder 3"/>
          <p:cNvPicPr>
            <a:picLocks noChangeAspect="1"/>
          </p:cNvPicPr>
          <p:nvPr/>
        </p:nvPicPr>
        <p:blipFill>
          <a:blip r:embed="rId3"/>
          <a:stretch>
            <a:fillRect/>
          </a:stretch>
        </p:blipFill>
        <p:spPr>
          <a:xfrm>
            <a:off x="1000839" y="5405404"/>
            <a:ext cx="6431319" cy="743054"/>
          </a:xfrm>
          <a:prstGeom prst="rect">
            <a:avLst/>
          </a:prstGeom>
        </p:spPr>
      </p:pic>
    </p:spTree>
    <p:extLst>
      <p:ext uri="{BB962C8B-B14F-4D97-AF65-F5344CB8AC3E}">
        <p14:creationId xmlns:p14="http://schemas.microsoft.com/office/powerpoint/2010/main" val="731803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DOCKER PULL UBUNTU</a:t>
            </a:r>
            <a:endParaRPr lang="en-US" dirty="0"/>
          </a:p>
        </p:txBody>
      </p:sp>
      <p:pic>
        <p:nvPicPr>
          <p:cNvPr id="4" name="Content Placeholder 3"/>
          <p:cNvPicPr>
            <a:picLocks noGrp="1" noChangeAspect="1"/>
          </p:cNvPicPr>
          <p:nvPr>
            <p:ph idx="1"/>
          </p:nvPr>
        </p:nvPicPr>
        <p:blipFill>
          <a:blip r:embed="rId2"/>
          <a:stretch>
            <a:fillRect/>
          </a:stretch>
        </p:blipFill>
        <p:spPr>
          <a:xfrm>
            <a:off x="1484313" y="2519916"/>
            <a:ext cx="10018712" cy="2446893"/>
          </a:xfrm>
          <a:prstGeom prst="rect">
            <a:avLst/>
          </a:prstGeom>
        </p:spPr>
      </p:pic>
    </p:spTree>
    <p:extLst>
      <p:ext uri="{BB962C8B-B14F-4D97-AF65-F5344CB8AC3E}">
        <p14:creationId xmlns:p14="http://schemas.microsoft.com/office/powerpoint/2010/main" val="4257890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26799" y="1578845"/>
            <a:ext cx="10950037" cy="3785583"/>
          </a:xfrm>
          <a:prstGeom prst="rect">
            <a:avLst/>
          </a:prstGeom>
        </p:spPr>
      </p:pic>
    </p:spTree>
    <p:extLst>
      <p:ext uri="{BB962C8B-B14F-4D97-AF65-F5344CB8AC3E}">
        <p14:creationId xmlns:p14="http://schemas.microsoft.com/office/powerpoint/2010/main" val="2956907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DOCKER RUN HELLO WORLD</a:t>
            </a:r>
            <a:endParaRPr lang="en-US" dirty="0"/>
          </a:p>
        </p:txBody>
      </p:sp>
      <p:pic>
        <p:nvPicPr>
          <p:cNvPr id="4" name="Content Placeholder 3"/>
          <p:cNvPicPr>
            <a:picLocks noGrp="1" noChangeAspect="1"/>
          </p:cNvPicPr>
          <p:nvPr>
            <p:ph idx="1"/>
          </p:nvPr>
        </p:nvPicPr>
        <p:blipFill>
          <a:blip r:embed="rId2"/>
          <a:stretch>
            <a:fillRect/>
          </a:stretch>
        </p:blipFill>
        <p:spPr>
          <a:xfrm>
            <a:off x="464905" y="1690688"/>
            <a:ext cx="11241542" cy="3839111"/>
          </a:xfrm>
          <a:prstGeom prst="rect">
            <a:avLst/>
          </a:prstGeom>
        </p:spPr>
      </p:pic>
    </p:spTree>
    <p:extLst>
      <p:ext uri="{BB962C8B-B14F-4D97-AF65-F5344CB8AC3E}">
        <p14:creationId xmlns:p14="http://schemas.microsoft.com/office/powerpoint/2010/main" val="152719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611329" y="869719"/>
            <a:ext cx="10797405" cy="5200087"/>
          </a:xfrm>
          <a:prstGeom prst="rect">
            <a:avLst/>
          </a:prstGeom>
        </p:spPr>
      </p:pic>
    </p:spTree>
    <p:extLst>
      <p:ext uri="{BB962C8B-B14F-4D97-AF65-F5344CB8AC3E}">
        <p14:creationId xmlns:p14="http://schemas.microsoft.com/office/powerpoint/2010/main" val="946355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731490" y="960474"/>
            <a:ext cx="8078327" cy="1943371"/>
          </a:xfrm>
          <a:prstGeom prst="rect">
            <a:avLst/>
          </a:prstGeom>
        </p:spPr>
      </p:pic>
      <p:pic>
        <p:nvPicPr>
          <p:cNvPr id="5" name="Picture 4"/>
          <p:cNvPicPr>
            <a:picLocks noChangeAspect="1"/>
          </p:cNvPicPr>
          <p:nvPr/>
        </p:nvPicPr>
        <p:blipFill>
          <a:blip r:embed="rId3"/>
          <a:stretch>
            <a:fillRect/>
          </a:stretch>
        </p:blipFill>
        <p:spPr>
          <a:xfrm>
            <a:off x="1731490" y="4055151"/>
            <a:ext cx="7093533" cy="1557926"/>
          </a:xfrm>
          <a:prstGeom prst="rect">
            <a:avLst/>
          </a:prstGeom>
        </p:spPr>
      </p:pic>
      <p:sp>
        <p:nvSpPr>
          <p:cNvPr id="6" name="TextBox 5"/>
          <p:cNvSpPr txBox="1"/>
          <p:nvPr/>
        </p:nvSpPr>
        <p:spPr>
          <a:xfrm>
            <a:off x="1731490" y="3455581"/>
            <a:ext cx="5658138" cy="369332"/>
          </a:xfrm>
          <a:prstGeom prst="rect">
            <a:avLst/>
          </a:prstGeom>
          <a:noFill/>
        </p:spPr>
        <p:txBody>
          <a:bodyPr wrap="square" rtlCol="0">
            <a:spAutoFit/>
          </a:bodyPr>
          <a:lstStyle/>
          <a:p>
            <a:r>
              <a:rPr lang="en-US" dirty="0" err="1" smtClean="0"/>
              <a:t>Dockerfile</a:t>
            </a:r>
            <a:r>
              <a:rPr lang="en-US" dirty="0" smtClean="0"/>
              <a:t>(no extension to be given)</a:t>
            </a:r>
            <a:endParaRPr lang="en-US" dirty="0"/>
          </a:p>
        </p:txBody>
      </p:sp>
    </p:spTree>
    <p:extLst>
      <p:ext uri="{BB962C8B-B14F-4D97-AF65-F5344CB8AC3E}">
        <p14:creationId xmlns:p14="http://schemas.microsoft.com/office/powerpoint/2010/main" val="1656290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PWD and creating a directory</a:t>
            </a:r>
            <a:br>
              <a:rPr lang="en-US" dirty="0" smtClean="0"/>
            </a:br>
            <a:endParaRPr lang="en-US" dirty="0"/>
          </a:p>
        </p:txBody>
      </p:sp>
      <p:sp>
        <p:nvSpPr>
          <p:cNvPr id="3" name="Content Placeholder 2"/>
          <p:cNvSpPr>
            <a:spLocks noGrp="1"/>
          </p:cNvSpPr>
          <p:nvPr>
            <p:ph idx="1"/>
          </p:nvPr>
        </p:nvSpPr>
        <p:spPr>
          <a:xfrm>
            <a:off x="616688" y="1825625"/>
            <a:ext cx="10737112" cy="4351338"/>
          </a:xfrm>
        </p:spPr>
        <p:txBody>
          <a:bodyPr/>
          <a:lstStyle/>
          <a:p>
            <a:r>
              <a:rPr lang="en-US" dirty="0" smtClean="0"/>
              <a:t>Present working directory</a:t>
            </a:r>
          </a:p>
          <a:p>
            <a:endParaRPr lang="en-US" dirty="0"/>
          </a:p>
        </p:txBody>
      </p:sp>
      <p:pic>
        <p:nvPicPr>
          <p:cNvPr id="4" name="Picture 3"/>
          <p:cNvPicPr>
            <a:picLocks noChangeAspect="1"/>
          </p:cNvPicPr>
          <p:nvPr/>
        </p:nvPicPr>
        <p:blipFill>
          <a:blip r:embed="rId2"/>
          <a:stretch>
            <a:fillRect/>
          </a:stretch>
        </p:blipFill>
        <p:spPr>
          <a:xfrm>
            <a:off x="958407" y="2345001"/>
            <a:ext cx="5187212" cy="466790"/>
          </a:xfrm>
          <a:prstGeom prst="rect">
            <a:avLst/>
          </a:prstGeom>
        </p:spPr>
      </p:pic>
      <p:pic>
        <p:nvPicPr>
          <p:cNvPr id="5" name="Picture 4"/>
          <p:cNvPicPr>
            <a:picLocks noChangeAspect="1"/>
          </p:cNvPicPr>
          <p:nvPr/>
        </p:nvPicPr>
        <p:blipFill>
          <a:blip r:embed="rId3"/>
          <a:stretch>
            <a:fillRect/>
          </a:stretch>
        </p:blipFill>
        <p:spPr>
          <a:xfrm>
            <a:off x="838199" y="3452194"/>
            <a:ext cx="6732181" cy="2505425"/>
          </a:xfrm>
          <a:prstGeom prst="rect">
            <a:avLst/>
          </a:prstGeom>
        </p:spPr>
      </p:pic>
    </p:spTree>
    <p:extLst>
      <p:ext uri="{BB962C8B-B14F-4D97-AF65-F5344CB8AC3E}">
        <p14:creationId xmlns:p14="http://schemas.microsoft.com/office/powerpoint/2010/main" val="1014309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 name="Content Placeholder 7"/>
          <p:cNvPicPr>
            <a:picLocks noGrp="1" noChangeAspect="1"/>
          </p:cNvPicPr>
          <p:nvPr>
            <p:ph idx="1"/>
          </p:nvPr>
        </p:nvPicPr>
        <p:blipFill>
          <a:blip r:embed="rId2"/>
          <a:stretch>
            <a:fillRect/>
          </a:stretch>
        </p:blipFill>
        <p:spPr>
          <a:xfrm>
            <a:off x="1484311" y="2052084"/>
            <a:ext cx="9329001" cy="3707218"/>
          </a:xfrm>
          <a:prstGeom prst="rect">
            <a:avLst/>
          </a:prstGeom>
        </p:spPr>
      </p:pic>
    </p:spTree>
    <p:extLst>
      <p:ext uri="{BB962C8B-B14F-4D97-AF65-F5344CB8AC3E}">
        <p14:creationId xmlns:p14="http://schemas.microsoft.com/office/powerpoint/2010/main" val="3840982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Docker container</a:t>
            </a:r>
            <a:endParaRPr lang="en-US" dirty="0"/>
          </a:p>
        </p:txBody>
      </p:sp>
      <p:pic>
        <p:nvPicPr>
          <p:cNvPr id="4" name="Content Placeholder 3"/>
          <p:cNvPicPr>
            <a:picLocks noGrp="1" noChangeAspect="1"/>
          </p:cNvPicPr>
          <p:nvPr>
            <p:ph idx="1"/>
          </p:nvPr>
        </p:nvPicPr>
        <p:blipFill>
          <a:blip r:embed="rId2"/>
          <a:stretch>
            <a:fillRect/>
          </a:stretch>
        </p:blipFill>
        <p:spPr>
          <a:xfrm>
            <a:off x="741579" y="3874900"/>
            <a:ext cx="7179677" cy="654569"/>
          </a:xfrm>
          <a:prstGeom prst="rect">
            <a:avLst/>
          </a:prstGeom>
        </p:spPr>
      </p:pic>
      <p:pic>
        <p:nvPicPr>
          <p:cNvPr id="6" name="Picture 5"/>
          <p:cNvPicPr>
            <a:picLocks noChangeAspect="1"/>
          </p:cNvPicPr>
          <p:nvPr/>
        </p:nvPicPr>
        <p:blipFill>
          <a:blip r:embed="rId3"/>
          <a:stretch>
            <a:fillRect/>
          </a:stretch>
        </p:blipFill>
        <p:spPr>
          <a:xfrm>
            <a:off x="652030" y="2062052"/>
            <a:ext cx="5125993" cy="436599"/>
          </a:xfrm>
          <a:prstGeom prst="rect">
            <a:avLst/>
          </a:prstGeom>
        </p:spPr>
      </p:pic>
      <p:sp>
        <p:nvSpPr>
          <p:cNvPr id="7" name="TextBox 6"/>
          <p:cNvSpPr txBox="1"/>
          <p:nvPr/>
        </p:nvSpPr>
        <p:spPr>
          <a:xfrm>
            <a:off x="652030" y="2945219"/>
            <a:ext cx="7396817" cy="369332"/>
          </a:xfrm>
          <a:prstGeom prst="rect">
            <a:avLst/>
          </a:prstGeom>
          <a:noFill/>
        </p:spPr>
        <p:txBody>
          <a:bodyPr wrap="square" rtlCol="0">
            <a:spAutoFit/>
          </a:bodyPr>
          <a:lstStyle/>
          <a:p>
            <a:r>
              <a:rPr lang="en-US" dirty="0" smtClean="0"/>
              <a:t>To remove the container</a:t>
            </a:r>
            <a:endParaRPr lang="en-US" dirty="0"/>
          </a:p>
        </p:txBody>
      </p:sp>
      <p:cxnSp>
        <p:nvCxnSpPr>
          <p:cNvPr id="9" name="Straight Arrow Connector 8"/>
          <p:cNvCxnSpPr/>
          <p:nvPr/>
        </p:nvCxnSpPr>
        <p:spPr>
          <a:xfrm flipV="1">
            <a:off x="531629" y="4614530"/>
            <a:ext cx="733645" cy="130780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1318437" y="4859079"/>
            <a:ext cx="5720316" cy="461665"/>
          </a:xfrm>
          <a:prstGeom prst="rect">
            <a:avLst/>
          </a:prstGeom>
          <a:noFill/>
        </p:spPr>
        <p:txBody>
          <a:bodyPr wrap="square" rtlCol="0">
            <a:spAutoFit/>
          </a:bodyPr>
          <a:lstStyle/>
          <a:p>
            <a:r>
              <a:rPr lang="en-US" sz="2400" dirty="0" smtClean="0">
                <a:solidFill>
                  <a:srgbClr val="FF0000"/>
                </a:solidFill>
              </a:rPr>
              <a:t>Don’t try the above command</a:t>
            </a:r>
            <a:endParaRPr lang="en-US" sz="2400" dirty="0">
              <a:solidFill>
                <a:srgbClr val="FF0000"/>
              </a:solidFill>
            </a:endParaRPr>
          </a:p>
        </p:txBody>
      </p:sp>
    </p:spTree>
    <p:extLst>
      <p:ext uri="{BB962C8B-B14F-4D97-AF65-F5344CB8AC3E}">
        <p14:creationId xmlns:p14="http://schemas.microsoft.com/office/powerpoint/2010/main" val="2130338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618096" y="1848293"/>
            <a:ext cx="9780006" cy="3805698"/>
          </a:xfrm>
          <a:prstGeom prst="rect">
            <a:avLst/>
          </a:prstGeom>
        </p:spPr>
      </p:pic>
    </p:spTree>
    <p:extLst>
      <p:ext uri="{BB962C8B-B14F-4D97-AF65-F5344CB8AC3E}">
        <p14:creationId xmlns:p14="http://schemas.microsoft.com/office/powerpoint/2010/main" val="426958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Ps commands</a:t>
            </a:r>
            <a:endParaRPr lang="en-US" dirty="0"/>
          </a:p>
        </p:txBody>
      </p:sp>
      <p:pic>
        <p:nvPicPr>
          <p:cNvPr id="4" name="Content Placeholder 3"/>
          <p:cNvPicPr>
            <a:picLocks noGrp="1" noChangeAspect="1"/>
          </p:cNvPicPr>
          <p:nvPr>
            <p:ph idx="1"/>
          </p:nvPr>
        </p:nvPicPr>
        <p:blipFill>
          <a:blip r:embed="rId2"/>
          <a:stretch>
            <a:fillRect/>
          </a:stretch>
        </p:blipFill>
        <p:spPr>
          <a:xfrm>
            <a:off x="838200" y="1900564"/>
            <a:ext cx="6516009" cy="885166"/>
          </a:xfrm>
          <a:prstGeom prst="rect">
            <a:avLst/>
          </a:prstGeom>
        </p:spPr>
      </p:pic>
      <p:pic>
        <p:nvPicPr>
          <p:cNvPr id="5" name="Picture 4"/>
          <p:cNvPicPr>
            <a:picLocks noChangeAspect="1"/>
          </p:cNvPicPr>
          <p:nvPr/>
        </p:nvPicPr>
        <p:blipFill>
          <a:blip r:embed="rId3"/>
          <a:stretch>
            <a:fillRect/>
          </a:stretch>
        </p:blipFill>
        <p:spPr>
          <a:xfrm>
            <a:off x="520610" y="3361054"/>
            <a:ext cx="10278909" cy="1104620"/>
          </a:xfrm>
          <a:prstGeom prst="rect">
            <a:avLst/>
          </a:prstGeom>
        </p:spPr>
      </p:pic>
    </p:spTree>
    <p:extLst>
      <p:ext uri="{BB962C8B-B14F-4D97-AF65-F5344CB8AC3E}">
        <p14:creationId xmlns:p14="http://schemas.microsoft.com/office/powerpoint/2010/main" val="2036972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484311" y="685800"/>
            <a:ext cx="10434787" cy="3124200"/>
          </a:xfrm>
          <a:prstGeom prst="rect">
            <a:avLst/>
          </a:prstGeom>
        </p:spPr>
      </p:pic>
      <p:pic>
        <p:nvPicPr>
          <p:cNvPr id="5" name="Picture 4"/>
          <p:cNvPicPr>
            <a:picLocks noChangeAspect="1"/>
          </p:cNvPicPr>
          <p:nvPr/>
        </p:nvPicPr>
        <p:blipFill>
          <a:blip r:embed="rId3"/>
          <a:stretch>
            <a:fillRect/>
          </a:stretch>
        </p:blipFill>
        <p:spPr>
          <a:xfrm>
            <a:off x="1681653" y="4059421"/>
            <a:ext cx="8849960" cy="1609950"/>
          </a:xfrm>
          <a:prstGeom prst="rect">
            <a:avLst/>
          </a:prstGeom>
        </p:spPr>
      </p:pic>
    </p:spTree>
    <p:extLst>
      <p:ext uri="{BB962C8B-B14F-4D97-AF65-F5344CB8AC3E}">
        <p14:creationId xmlns:p14="http://schemas.microsoft.com/office/powerpoint/2010/main" val="1447448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592436" y="685800"/>
            <a:ext cx="8888065" cy="1771897"/>
          </a:xfrm>
          <a:prstGeom prst="rect">
            <a:avLst/>
          </a:prstGeom>
        </p:spPr>
      </p:pic>
      <p:pic>
        <p:nvPicPr>
          <p:cNvPr id="5" name="Picture 4"/>
          <p:cNvPicPr>
            <a:picLocks noChangeAspect="1"/>
          </p:cNvPicPr>
          <p:nvPr/>
        </p:nvPicPr>
        <p:blipFill>
          <a:blip r:embed="rId3"/>
          <a:stretch>
            <a:fillRect/>
          </a:stretch>
        </p:blipFill>
        <p:spPr>
          <a:xfrm>
            <a:off x="1484311" y="2438399"/>
            <a:ext cx="8821381" cy="1762371"/>
          </a:xfrm>
          <a:prstGeom prst="rect">
            <a:avLst/>
          </a:prstGeom>
        </p:spPr>
      </p:pic>
    </p:spTree>
    <p:extLst>
      <p:ext uri="{BB962C8B-B14F-4D97-AF65-F5344CB8AC3E}">
        <p14:creationId xmlns:p14="http://schemas.microsoft.com/office/powerpoint/2010/main" val="2956524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658679" y="1648047"/>
            <a:ext cx="8952614" cy="4143153"/>
          </a:xfrm>
          <a:prstGeom prst="rect">
            <a:avLst/>
          </a:prstGeom>
        </p:spPr>
      </p:pic>
    </p:spTree>
    <p:extLst>
      <p:ext uri="{BB962C8B-B14F-4D97-AF65-F5344CB8AC3E}">
        <p14:creationId xmlns:p14="http://schemas.microsoft.com/office/powerpoint/2010/main" val="3834677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1484313" y="2902688"/>
            <a:ext cx="10018712" cy="1591177"/>
          </a:xfrm>
          <a:prstGeom prst="rect">
            <a:avLst/>
          </a:prstGeom>
        </p:spPr>
      </p:pic>
      <p:sp>
        <p:nvSpPr>
          <p:cNvPr id="6" name="TextBox 5"/>
          <p:cNvSpPr txBox="1"/>
          <p:nvPr/>
        </p:nvSpPr>
        <p:spPr>
          <a:xfrm>
            <a:off x="2264735" y="1562099"/>
            <a:ext cx="9431079" cy="646331"/>
          </a:xfrm>
          <a:prstGeom prst="rect">
            <a:avLst/>
          </a:prstGeom>
          <a:noFill/>
        </p:spPr>
        <p:txBody>
          <a:bodyPr wrap="square" rtlCol="0">
            <a:spAutoFit/>
          </a:bodyPr>
          <a:lstStyle/>
          <a:p>
            <a:r>
              <a:rPr lang="en-US" dirty="0" err="1" smtClean="0"/>
              <a:t>Username:vaagdevi</a:t>
            </a:r>
            <a:endParaRPr lang="en-US" dirty="0" smtClean="0"/>
          </a:p>
          <a:p>
            <a:r>
              <a:rPr lang="en-US" dirty="0" smtClean="0"/>
              <a:t>Password:vaag123456</a:t>
            </a:r>
            <a:endParaRPr lang="en-US" dirty="0"/>
          </a:p>
        </p:txBody>
      </p:sp>
      <p:sp>
        <p:nvSpPr>
          <p:cNvPr id="3" name="TextBox 2"/>
          <p:cNvSpPr txBox="1"/>
          <p:nvPr/>
        </p:nvSpPr>
        <p:spPr>
          <a:xfrm>
            <a:off x="1484311" y="4965405"/>
            <a:ext cx="10018713" cy="369332"/>
          </a:xfrm>
          <a:prstGeom prst="rect">
            <a:avLst/>
          </a:prstGeom>
          <a:noFill/>
        </p:spPr>
        <p:txBody>
          <a:bodyPr wrap="square" rtlCol="0">
            <a:spAutoFit/>
          </a:bodyPr>
          <a:lstStyle/>
          <a:p>
            <a:r>
              <a:rPr lang="en-US" dirty="0" smtClean="0"/>
              <a:t>Once u login now u can start pushing…that’s our next command</a:t>
            </a:r>
            <a:endParaRPr lang="en-US" dirty="0"/>
          </a:p>
        </p:txBody>
      </p:sp>
    </p:spTree>
    <p:extLst>
      <p:ext uri="{BB962C8B-B14F-4D97-AF65-F5344CB8AC3E}">
        <p14:creationId xmlns:p14="http://schemas.microsoft.com/office/powerpoint/2010/main" val="1793093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484311" y="685799"/>
            <a:ext cx="10018713" cy="4163773"/>
          </a:xfrm>
          <a:prstGeom prst="rect">
            <a:avLst/>
          </a:prstGeom>
        </p:spPr>
      </p:pic>
    </p:spTree>
    <p:extLst>
      <p:ext uri="{BB962C8B-B14F-4D97-AF65-F5344CB8AC3E}">
        <p14:creationId xmlns:p14="http://schemas.microsoft.com/office/powerpoint/2010/main" val="1421668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392230" y="685799"/>
            <a:ext cx="10110794" cy="4954881"/>
          </a:xfrm>
          <a:prstGeom prst="rect">
            <a:avLst/>
          </a:prstGeom>
        </p:spPr>
      </p:pic>
    </p:spTree>
    <p:extLst>
      <p:ext uri="{BB962C8B-B14F-4D97-AF65-F5344CB8AC3E}">
        <p14:creationId xmlns:p14="http://schemas.microsoft.com/office/powerpoint/2010/main" val="2433016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484311" y="519224"/>
            <a:ext cx="7215003" cy="3124200"/>
          </a:xfrm>
          <a:prstGeom prst="rect">
            <a:avLst/>
          </a:prstGeom>
        </p:spPr>
      </p:pic>
    </p:spTree>
    <p:extLst>
      <p:ext uri="{BB962C8B-B14F-4D97-AF65-F5344CB8AC3E}">
        <p14:creationId xmlns:p14="http://schemas.microsoft.com/office/powerpoint/2010/main" val="39234684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484311" y="593652"/>
            <a:ext cx="10222136" cy="5193696"/>
          </a:xfrm>
          <a:prstGeom prst="rect">
            <a:avLst/>
          </a:prstGeom>
        </p:spPr>
      </p:pic>
    </p:spTree>
    <p:extLst>
      <p:ext uri="{BB962C8B-B14F-4D97-AF65-F5344CB8AC3E}">
        <p14:creationId xmlns:p14="http://schemas.microsoft.com/office/powerpoint/2010/main" val="20903261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Override1.xml><?xml version="1.0" encoding="utf-8"?>
<a:themeOverride xmlns:a="http://schemas.openxmlformats.org/drawingml/2006/main">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themeOverride>
</file>

<file path=docProps/app.xml><?xml version="1.0" encoding="utf-8"?>
<Properties xmlns="http://schemas.openxmlformats.org/officeDocument/2006/extended-properties" xmlns:vt="http://schemas.openxmlformats.org/officeDocument/2006/docPropsVTypes">
  <Template/>
  <TotalTime>228</TotalTime>
  <Words>350</Words>
  <Application>Microsoft Office PowerPoint</Application>
  <PresentationFormat>Widescreen</PresentationFormat>
  <Paragraphs>31</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Corbel</vt:lpstr>
      <vt:lpstr>Roboto</vt:lpstr>
      <vt:lpstr>Parallax</vt:lpstr>
      <vt:lpstr>Docker </vt:lpstr>
      <vt:lpstr>PowerPoint Presentation</vt:lpstr>
      <vt:lpstr>PowerPoint Presentation</vt:lpstr>
      <vt:lpstr>What can I use Docker for? </vt:lpstr>
      <vt:lpstr>PowerPoint Presentation</vt:lpstr>
      <vt:lpstr>Docker installation</vt:lpstr>
      <vt:lpstr>PowerPoint Presentation</vt:lpstr>
      <vt:lpstr>PowerPoint Presentation</vt:lpstr>
      <vt:lpstr>PowerPoint Presentation</vt:lpstr>
      <vt:lpstr>PowerPoint Presentation</vt:lpstr>
      <vt:lpstr>PowerPoint Presentation</vt:lpstr>
      <vt:lpstr>DOCKER PULL UBUNTU</vt:lpstr>
      <vt:lpstr>PowerPoint Presentation</vt:lpstr>
      <vt:lpstr>DOCKER RUN HELLO WORLD</vt:lpstr>
      <vt:lpstr>PowerPoint Presentation</vt:lpstr>
      <vt:lpstr>PowerPoint Presentation</vt:lpstr>
      <vt:lpstr>PWD and creating a directory </vt:lpstr>
      <vt:lpstr>PowerPoint Presentation</vt:lpstr>
      <vt:lpstr>Docker container</vt:lpstr>
      <vt:lpstr>PowerPoint Presentation</vt:lpstr>
      <vt:lpstr>Ps commands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13</cp:revision>
  <dcterms:created xsi:type="dcterms:W3CDTF">2023-05-29T06:57:37Z</dcterms:created>
  <dcterms:modified xsi:type="dcterms:W3CDTF">2023-06-05T06:50:18Z</dcterms:modified>
</cp:coreProperties>
</file>